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7315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589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Dedeepya Majety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589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B923C"/>
                </a:solidFill>
                <a:latin typeface="Arial"/>
              </a:defRPr>
            </a:pPr>
            <a:r>
              <a:t>Azure Data Engineer &amp; Lakehouse Specialist  |  FS - Data Engineer - Associate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7589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PwC Acceleration Center India  |  Financial Services Advisory &amp; Data Platform Practice  |  Req ID: 4467378631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7589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F59E0B"/>
                </a:solidFill>
                <a:latin typeface="Arial"/>
              </a:rPr>
              <a:t>•  </a:t>
            </a:r>
            <a:r>
              <a:rPr b="1" sz="1300">
                <a:solidFill>
                  <a:srgbClr val="FFFFFF"/>
                </a:solidFill>
                <a:latin typeface="Arial"/>
              </a:rPr>
              <a:t>Associate - Data Engineer @ Cognizant: </a:t>
            </a:r>
            <a:r>
              <a:rPr b="0" sz="1300">
                <a:solidFill>
                  <a:srgbClr val="CBD5E1"/>
                </a:solidFill>
                <a:latin typeface="Arial"/>
              </a:rPr>
              <a:t>3.9 YOE delivering enterprise cloud lakehouse solutions.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F59E0B"/>
                </a:solidFill>
                <a:latin typeface="Arial"/>
              </a:rPr>
              <a:t>•  </a:t>
            </a:r>
            <a:r>
              <a:rPr b="1" sz="1300">
                <a:solidFill>
                  <a:srgbClr val="FFFFFF"/>
                </a:solidFill>
                <a:latin typeface="Arial"/>
              </a:rPr>
              <a:t>Databricks Certified Associate: </a:t>
            </a:r>
            <a:r>
              <a:rPr b="0" sz="1300">
                <a:solidFill>
                  <a:srgbClr val="CBD5E1"/>
                </a:solidFill>
                <a:latin typeface="Arial"/>
              </a:rPr>
              <a:t>Hands-on PySpark, Delta Lake, Unity Catalog, and Medallion architecture.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F59E0B"/>
                </a:solidFill>
                <a:latin typeface="Arial"/>
              </a:rPr>
              <a:t>•  </a:t>
            </a:r>
            <a:r>
              <a:rPr b="1" sz="1300">
                <a:solidFill>
                  <a:srgbClr val="FFFFFF"/>
                </a:solidFill>
                <a:latin typeface="Arial"/>
              </a:rPr>
              <a:t>Microsoft Certified PL-300: </a:t>
            </a:r>
            <a:r>
              <a:rPr b="0" sz="1300">
                <a:solidFill>
                  <a:srgbClr val="CBD5E1"/>
                </a:solidFill>
                <a:latin typeface="Arial"/>
              </a:rPr>
              <a:t>Power BI data modeling, DAX optimization, and Direct Lake integration.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F59E0B"/>
                </a:solidFill>
                <a:latin typeface="Arial"/>
              </a:rPr>
              <a:t>•  </a:t>
            </a:r>
            <a:r>
              <a:rPr b="1" sz="1300">
                <a:solidFill>
                  <a:srgbClr val="FFFFFF"/>
                </a:solidFill>
                <a:latin typeface="Arial"/>
              </a:rPr>
              <a:t>Immediate Availability: </a:t>
            </a:r>
            <a:r>
              <a:rPr b="0" sz="1300">
                <a:solidFill>
                  <a:srgbClr val="CBD5E1"/>
                </a:solidFill>
                <a:latin typeface="Arial"/>
              </a:rPr>
              <a:t>Serving official notice period at Cognizant; available to join within 30 days.</a:t>
            </a:r>
          </a:p>
        </p:txBody>
      </p:sp>
      <p:pic>
        <p:nvPicPr>
          <p:cNvPr id="8" name="Picture 7" descr="dedeepya_headshot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051560"/>
            <a:ext cx="2926080" cy="2926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95360" y="4142232"/>
            <a:ext cx="2926080" cy="384048"/>
          </a:xfrm>
          <a:prstGeom prst="roundRect">
            <a:avLst/>
          </a:prstGeom>
          <a:solidFill>
            <a:srgbClr val="065F4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🟢 AVAILABLE IN 30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+91-6281869953  |  majetydedeepya0@gmail.com  |  linkedin.com/in/dedeepya-majety  |  dedeepya-majety-portfolio.vercel.app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My Technical Strategy for PwC Acceleration Center India: 3 Core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High-throughput data engineering, cost efficiency, and automated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PwC Acceleration Center India  |  Req 4467378631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2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338328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463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Lakehouse Modernization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402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Legacy Cutover: </a:t>
            </a:r>
            <a:r>
              <a:rPr b="0" sz="1300">
                <a:solidFill>
                  <a:srgbClr val="334155"/>
                </a:solidFill>
                <a:latin typeface="Arial"/>
              </a:rPr>
              <a:t>Migrate batch ETL to Azure Databricks Delta Lake and PySpark.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Auto Loader Streaming: </a:t>
            </a:r>
            <a:r>
              <a:rPr b="0" sz="1300">
                <a:solidFill>
                  <a:srgbClr val="334155"/>
                </a:solidFill>
                <a:latin typeface="Arial"/>
              </a:rPr>
              <a:t>Continuous file ingestion with RocksDB state tracking.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Zero-Loss Validation: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100% row-count and checksum parity across cutovers.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Measurable ROI: </a:t>
            </a:r>
            <a:r>
              <a:rPr b="0" sz="1300">
                <a:solidFill>
                  <a:srgbClr val="334155"/>
                </a:solidFill>
                <a:latin typeface="Arial"/>
              </a:rPr>
              <a:t>40% pipeline runtime cut and ~30% compute savings.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371600"/>
            <a:ext cx="338328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417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1463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Performance &amp;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402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Skew Elimination: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Salt hotspot keys and broadcast dimension joins (&lt;10MB).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Engine Tuning: </a:t>
            </a:r>
            <a:r>
              <a:rPr b="0" sz="1300">
                <a:solidFill>
                  <a:srgbClr val="334155"/>
                </a:solidFill>
                <a:latin typeface="Arial"/>
              </a:rPr>
              <a:t>Leverage Adaptive Query Execution (AQE) for dynamic shuffle.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Compaction: </a:t>
            </a:r>
            <a:r>
              <a:rPr b="0" sz="1300">
                <a:solidFill>
                  <a:srgbClr val="334155"/>
                </a:solidFill>
                <a:latin typeface="Arial"/>
              </a:rPr>
              <a:t>Automated OPTIMIZE and Z-ORDER on high-cardinality keys.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Orchestration: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Modular Python Airflow DAGs with 99.8% SLA adherence.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371600"/>
            <a:ext cx="338328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417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1463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Governance &amp; Trust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2402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Unity Catalog: </a:t>
            </a:r>
            <a:r>
              <a:rPr b="0" sz="1300">
                <a:solidFill>
                  <a:srgbClr val="334155"/>
                </a:solidFill>
                <a:latin typeface="Arial"/>
              </a:rPr>
              <a:t>3-level namespace (catalog.schema.table) with RBAC policies.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Data Security: </a:t>
            </a:r>
            <a:r>
              <a:rPr b="0" sz="1300">
                <a:solidFill>
                  <a:srgbClr val="334155"/>
                </a:solidFill>
                <a:latin typeface="Arial"/>
              </a:rPr>
              <a:t>Dynamic column masking and row-level filtering for PII.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Master Data: </a:t>
            </a:r>
            <a:r>
              <a:rPr b="0" sz="1300">
                <a:solidFill>
                  <a:srgbClr val="334155"/>
                </a:solidFill>
                <a:latin typeface="Arial"/>
              </a:rPr>
              <a:t>Informatica MDM match-merge rule tuning for golden records.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Executive BI: </a:t>
            </a:r>
            <a:r>
              <a:rPr b="0" sz="1300">
                <a:solidFill>
                  <a:srgbClr val="334155"/>
                </a:solidFill>
                <a:latin typeface="Arial"/>
              </a:rPr>
              <a:t>Optimized Power BI DAX models and Direct Lake connectivity.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Production Medallion Lakehouse Architecture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Visual multi-hop data refinement blueprint: Raw Ingestion ➔ Silver Curated ➔ Gold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PwC Acceleration Center India  |  Req 4467378631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3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2423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2423160" cy="3657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38988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SOURCE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2880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Enterprise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50">
                <a:solidFill>
                  <a:srgbClr val="C2410C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On-Premises ERP: </a:t>
            </a:r>
            <a:r>
              <a:rPr b="0" sz="1250">
                <a:solidFill>
                  <a:srgbClr val="334155"/>
                </a:solidFill>
                <a:latin typeface="Arial"/>
              </a:rPr>
              <a:t>Informatica &amp; Oracle DB feeds.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C2410C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File Drops: </a:t>
            </a:r>
            <a:r>
              <a:rPr b="0" sz="1250">
                <a:solidFill>
                  <a:srgbClr val="334155"/>
                </a:solidFill>
                <a:latin typeface="Arial"/>
              </a:rPr>
              <a:t>CSV, JSON, XML in ADLS Gen2.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C2410C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REST APIs: </a:t>
            </a:r>
            <a:r>
              <a:rPr b="0" sz="1250">
                <a:solidFill>
                  <a:srgbClr val="334155"/>
                </a:solidFill>
                <a:latin typeface="Arial"/>
              </a:rPr>
              <a:t>External business telemetry streams.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18688" y="3474720"/>
            <a:ext cx="201168" cy="274320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1371600"/>
            <a:ext cx="2423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1371600"/>
            <a:ext cx="2423160" cy="3657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38988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BRONZE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182880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Raw 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33172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50">
                <a:solidFill>
                  <a:srgbClr val="C2410C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Auto Loader: </a:t>
            </a:r>
            <a:r>
              <a:rPr b="0" sz="1250">
                <a:solidFill>
                  <a:srgbClr val="334155"/>
                </a:solidFill>
                <a:latin typeface="Arial"/>
              </a:rPr>
              <a:t>cloudFiles streaming with RocksDB.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C2410C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Schema Drift: </a:t>
            </a:r>
            <a:r>
              <a:rPr b="0" sz="1250">
                <a:solidFill>
                  <a:srgbClr val="334155"/>
                </a:solidFill>
                <a:latin typeface="Arial"/>
              </a:rPr>
              <a:t>_rescued_data column defense.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C2410C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Delta Append: </a:t>
            </a:r>
            <a:r>
              <a:rPr b="0" sz="1250">
                <a:solidFill>
                  <a:srgbClr val="334155"/>
                </a:solidFill>
                <a:latin typeface="Arial"/>
              </a:rPr>
              <a:t>Immutable raw audit retention.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61888" y="3474720"/>
            <a:ext cx="201168" cy="274320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1371600"/>
            <a:ext cx="2423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371600"/>
            <a:ext cx="2423160" cy="3657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38988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SILVER 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82880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Conformed &amp; Clean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33172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50">
                <a:solidFill>
                  <a:srgbClr val="C2410C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Data Quality: </a:t>
            </a:r>
            <a:r>
              <a:rPr b="0" sz="1250">
                <a:solidFill>
                  <a:srgbClr val="334155"/>
                </a:solidFill>
                <a:latin typeface="Arial"/>
              </a:rPr>
              <a:t>Deduplication &amp; schema contracts.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C2410C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ACID MERGE: </a:t>
            </a:r>
            <a:r>
              <a:rPr b="0" sz="1250">
                <a:solidFill>
                  <a:srgbClr val="334155"/>
                </a:solidFill>
                <a:latin typeface="Arial"/>
              </a:rPr>
              <a:t>SCD Type 1 &amp; Type 2 tracking.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C2410C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Unity Catalog: </a:t>
            </a:r>
            <a:r>
              <a:rPr b="0" sz="1250">
                <a:solidFill>
                  <a:srgbClr val="334155"/>
                </a:solidFill>
                <a:latin typeface="Arial"/>
              </a:rPr>
              <a:t>Table &amp; column RBAC security.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705088" y="3474720"/>
            <a:ext cx="201168" cy="274320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61120" y="1371600"/>
            <a:ext cx="2423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61120" y="1371600"/>
            <a:ext cx="242316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138988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GOLD TIER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182880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Business Marts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233172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50">
                <a:solidFill>
                  <a:srgbClr val="C2410C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Star Schema: </a:t>
            </a:r>
            <a:r>
              <a:rPr b="0" sz="1250">
                <a:solidFill>
                  <a:srgbClr val="334155"/>
                </a:solidFill>
                <a:latin typeface="Arial"/>
              </a:rPr>
              <a:t>Curated Fact &amp; Dimension tables.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C2410C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Compaction: </a:t>
            </a:r>
            <a:r>
              <a:rPr b="0" sz="1250">
                <a:solidFill>
                  <a:srgbClr val="334155"/>
                </a:solidFill>
                <a:latin typeface="Arial"/>
              </a:rPr>
              <a:t>OPTIMIZE &amp; Z-ORDER on join keys.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C2410C"/>
                </a:solidFill>
                <a:latin typeface="Arial"/>
              </a:rPr>
              <a:t>•  </a:t>
            </a:r>
            <a:r>
              <a:rPr b="1" sz="1250">
                <a:solidFill>
                  <a:srgbClr val="0F172A"/>
                </a:solidFill>
                <a:latin typeface="Arial"/>
              </a:rPr>
              <a:t>Serving: </a:t>
            </a:r>
            <a:r>
              <a:rPr b="0" sz="1250">
                <a:solidFill>
                  <a:srgbClr val="334155"/>
                </a:solidFill>
                <a:latin typeface="Arial"/>
              </a:rPr>
              <a:t>Power BI &amp; Databricks Serverless.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Enterprise Value Delivery Scorecard &amp; Production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Verified quantitative performance improvements and infrastructure optimization across 3.9 YOE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PwC Acceleration Center India  |  Req 4467378631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4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2468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C2410C"/>
                </a:solidFill>
              </a:rPr>
              <a:t>40%</a:t>
            </a:r>
            <a:r>
              <a:rPr sz="1300" b="1">
                <a:solidFill>
                  <a:srgbClr val="059669"/>
                </a:solidFill>
              </a:rPr>
              <a:t> FASTER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Pipeline Runtime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Slashed daily batch execution window from 5 hours to under 3 hours via Azure Databricks.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371600"/>
            <a:ext cx="2468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4630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C2410C"/>
                </a:solidFill>
              </a:rPr>
              <a:t>~30%</a:t>
            </a:r>
            <a:r>
              <a:rPr sz="1300" b="1">
                <a:solidFill>
                  <a:srgbClr val="059669"/>
                </a:solidFill>
              </a:rPr>
              <a:t> SAVED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0574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Cloud Compute Savings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51460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Cluster rightsizing, auto-termination policies, and spot instance allocation cut cloud bills.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2468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4630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C2410C"/>
                </a:solidFill>
              </a:rPr>
              <a:t>99.8%</a:t>
            </a:r>
            <a:r>
              <a:rPr sz="1300" b="1">
                <a:solidFill>
                  <a:srgbClr val="059669"/>
                </a:solidFill>
              </a:rPr>
              <a:t> UPTIME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0574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Production SLA 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51460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Engineered modular Python Airflow DAGs with exponential retries and automated alerts.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1371600"/>
            <a:ext cx="2468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4630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C2410C"/>
                </a:solidFill>
              </a:rPr>
              <a:t>~15%</a:t>
            </a:r>
            <a:r>
              <a:rPr sz="1300" b="1">
                <a:solidFill>
                  <a:srgbClr val="059669"/>
                </a:solidFill>
              </a:rPr>
              <a:t> CLEANUP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0574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Duplicate Record Elimination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51460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Tuned Informatica MDM match-merge logic, establishing unified golden customer records.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77639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BEFORE VS AFTER VALUE REALIZATION BENCHMARK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3891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Daily Pipeline Execution Window: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4389120"/>
            <a:ext cx="45720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438912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Legacy Informatica: 5.0 Hours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4736592"/>
            <a:ext cx="2560320" cy="2926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473659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Databricks: 2.8 Hours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4526280"/>
            <a:ext cx="2103120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0" y="457200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59669"/>
                </a:solidFill>
              </a:defRPr>
            </a:pPr>
            <a:r>
              <a:t>▼ 44% RUNTIME CUT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1663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Cloud Compute Infrastructure Spend: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5166360"/>
            <a:ext cx="45720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516636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Unoptimized Baseline Spend (100%)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5513832"/>
            <a:ext cx="3200400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5513832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Rightsized &amp; Spot Compute (70%)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5303520"/>
            <a:ext cx="2103120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0" y="53492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59669"/>
                </a:solidFill>
              </a:defRPr>
            </a:pPr>
            <a:r>
              <a:t>▼ 30% COST SAVINGS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PySpark Performance Tuning &amp; Troubleshooting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Solving distributed data skew, memory bottlenecks, and executor failures at the root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PwC Acceleration Center India  |  Req 4467378631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5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2120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DATA SKEW &amp; 200TH TASK 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Partition Skew Diagnosis &amp; Salting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94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200">
                <a:solidFill>
                  <a:srgbClr val="C2410C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Symptom: </a:t>
            </a:r>
            <a:r>
              <a:rPr b="0" sz="1200">
                <a:solidFill>
                  <a:srgbClr val="334155"/>
                </a:solidFill>
                <a:latin typeface="Arial"/>
              </a:rPr>
              <a:t>199 tasks finish in 10s; 200th task spills to disk for 35 mins.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C2410C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Engineered Fix: </a:t>
            </a:r>
            <a:r>
              <a:rPr b="0" sz="1200">
                <a:solidFill>
                  <a:srgbClr val="334155"/>
                </a:solidFill>
                <a:latin typeface="Arial"/>
              </a:rPr>
              <a:t>Key Salting via concat(key, floor(rand() * 10)) to disperse hotspot keys uniformly across executors.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C2410C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Verified Impact: </a:t>
            </a:r>
            <a:r>
              <a:rPr b="0" sz="1200">
                <a:solidFill>
                  <a:srgbClr val="334155"/>
                </a:solidFill>
                <a:latin typeface="Arial"/>
              </a:rPr>
              <a:t>100% uniform executor utilization and elimination of straggler tasks.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52120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SHUFFLE OVERHEAD &amp; NETWORK 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Broadcast Hash Join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94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200">
                <a:solidFill>
                  <a:srgbClr val="C2410C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Symptom: </a:t>
            </a:r>
            <a:r>
              <a:rPr b="0" sz="1200">
                <a:solidFill>
                  <a:srgbClr val="334155"/>
                </a:solidFill>
                <a:latin typeface="Arial"/>
              </a:rPr>
              <a:t>Costly SortMergeJoin triggering multi-GB shuffle across network.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C2410C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Engineered Fix: </a:t>
            </a:r>
            <a:r>
              <a:rPr b="0" sz="1200">
                <a:solidFill>
                  <a:srgbClr val="334155"/>
                </a:solidFill>
                <a:latin typeface="Arial"/>
              </a:rPr>
              <a:t>Force broadcast(dim_df) for lookup and dimension tables under 10MB.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C2410C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Verified Impact: </a:t>
            </a:r>
            <a:r>
              <a:rPr b="0" sz="1200">
                <a:solidFill>
                  <a:srgbClr val="334155"/>
                </a:solidFill>
                <a:latin typeface="Arial"/>
              </a:rPr>
              <a:t>Zero network shuffle stage, cutting join execution latency by up to 70%.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931920"/>
            <a:ext cx="52120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776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CONTAINER CRASH &amp; 137 OOM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Executor Memory &amp; OOM Shielding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200">
                <a:solidFill>
                  <a:srgbClr val="C2410C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Symptom: </a:t>
            </a:r>
            <a:r>
              <a:rPr b="0" sz="1200">
                <a:solidFill>
                  <a:srgbClr val="334155"/>
                </a:solidFill>
                <a:latin typeface="Arial"/>
              </a:rPr>
              <a:t>Driver crashes or ExecutorLostFailure with exit code 137.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C2410C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Engineered Fix: </a:t>
            </a:r>
            <a:r>
              <a:rPr b="0" sz="1200">
                <a:solidFill>
                  <a:srgbClr val="334155"/>
                </a:solidFill>
                <a:latin typeface="Arial"/>
              </a:rPr>
              <a:t>Ban collect() on large datasets, tune spark.memory.fraction, and persist with MEMORY_AND_DISK_SER.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C2410C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Verified Impact: </a:t>
            </a:r>
            <a:r>
              <a:rPr b="0" sz="1200">
                <a:solidFill>
                  <a:srgbClr val="334155"/>
                </a:solidFill>
                <a:latin typeface="Arial"/>
              </a:rPr>
              <a:t>Rock-solid pipeline execution with zero container evictions.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931920"/>
            <a:ext cx="52120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776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QUERY PLANNING DRAG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3434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Small File Compaction &amp; Z-ORDER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548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200">
                <a:solidFill>
                  <a:srgbClr val="C2410C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Symptom: </a:t>
            </a:r>
            <a:r>
              <a:rPr b="0" sz="1200">
                <a:solidFill>
                  <a:srgbClr val="334155"/>
                </a:solidFill>
                <a:latin typeface="Arial"/>
              </a:rPr>
              <a:t>Streaming sink generates 10,000+ tiny sub-MB files, stalling query scans.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C2410C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Engineered Fix: </a:t>
            </a:r>
            <a:r>
              <a:rPr b="0" sz="1200">
                <a:solidFill>
                  <a:srgbClr val="334155"/>
                </a:solidFill>
                <a:latin typeface="Arial"/>
              </a:rPr>
              <a:t>Enable autoCompact and optimizeWrite; schedule scheduled OPTIMIZE table ZORDER BY (high_cardinality_keys).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C2410C"/>
                </a:solidFill>
                <a:latin typeface="Arial"/>
              </a:rPr>
              <a:t>•  </a:t>
            </a:r>
            <a:r>
              <a:rPr b="1" sz="1200">
                <a:solidFill>
                  <a:srgbClr val="0F172A"/>
                </a:solidFill>
                <a:latin typeface="Arial"/>
              </a:rPr>
              <a:t>Verified Impact: </a:t>
            </a:r>
            <a:r>
              <a:rPr b="0" sz="1200">
                <a:solidFill>
                  <a:srgbClr val="334155"/>
                </a:solidFill>
                <a:latin typeface="Arial"/>
              </a:rPr>
              <a:t>Sub-second analytical queries via file-skipping metadata.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Enterprise Governance &amp; Master Data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Dual-engine architecture for centralized access control, lineage, and golden record survivorship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PwC Acceleration Center India  |  Req 4467378631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6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12064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630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Databricks Unity Catalog 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3-Level Namespace: </a:t>
            </a:r>
            <a:r>
              <a:rPr b="0" sz="1300">
                <a:solidFill>
                  <a:srgbClr val="334155"/>
                </a:solidFill>
                <a:latin typeface="Arial"/>
              </a:rPr>
              <a:t>Hierarchical governance across catalog.schema.table.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Fine-Grained RBAC: </a:t>
            </a:r>
            <a:r>
              <a:rPr b="0" sz="1300">
                <a:solidFill>
                  <a:srgbClr val="334155"/>
                </a:solidFill>
                <a:latin typeface="Arial"/>
              </a:rPr>
              <a:t>Role-based access permissions tailored for data consumers.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Dynamic Column Masking: </a:t>
            </a:r>
            <a:r>
              <a:rPr b="0" sz="1300">
                <a:solidFill>
                  <a:srgbClr val="334155"/>
                </a:solidFill>
                <a:latin typeface="Arial"/>
              </a:rPr>
              <a:t>Automated redaction of sensitive customer PII.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Row-Level Filtering: </a:t>
            </a:r>
            <a:r>
              <a:rPr b="0" sz="1300">
                <a:solidFill>
                  <a:srgbClr val="334155"/>
                </a:solidFill>
                <a:latin typeface="Arial"/>
              </a:rPr>
              <a:t>Context-aware data filtering based on business domain.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Automated Lineage: </a:t>
            </a:r>
            <a:r>
              <a:rPr b="0" sz="1300">
                <a:solidFill>
                  <a:srgbClr val="334155"/>
                </a:solidFill>
                <a:latin typeface="Arial"/>
              </a:rPr>
              <a:t>End-to-end provenance tracking from ingestion to Power BI.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Compliance Auditing: </a:t>
            </a:r>
            <a:r>
              <a:rPr b="0" sz="1300">
                <a:solidFill>
                  <a:srgbClr val="334155"/>
                </a:solidFill>
                <a:latin typeface="Arial"/>
              </a:rPr>
              <a:t>Immutable query audit logs for regulatory readiness.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12064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Informatica Master Data Management (MDM)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Deterministic Matching: </a:t>
            </a:r>
            <a:r>
              <a:rPr b="0" sz="1300">
                <a:solidFill>
                  <a:srgbClr val="334155"/>
                </a:solidFill>
                <a:latin typeface="Arial"/>
              </a:rPr>
              <a:t>Exact matching rules across enterprise primary keys.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Probabilistic Matching: </a:t>
            </a:r>
            <a:r>
              <a:rPr b="0" sz="1300">
                <a:solidFill>
                  <a:srgbClr val="334155"/>
                </a:solidFill>
                <a:latin typeface="Arial"/>
              </a:rPr>
              <a:t>Fuzzy string match rules for customer names and addresses.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Trust Decay Scoring: </a:t>
            </a:r>
            <a:r>
              <a:rPr b="0" sz="1300">
                <a:solidFill>
                  <a:srgbClr val="334155"/>
                </a:solidFill>
                <a:latin typeface="Arial"/>
              </a:rPr>
              <a:t>Configured confidence curves prioritizing verified CRM data.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Survivorship Logic: </a:t>
            </a:r>
            <a:r>
              <a:rPr b="0" sz="1300">
                <a:solidFill>
                  <a:srgbClr val="334155"/>
                </a:solidFill>
                <a:latin typeface="Arial"/>
              </a:rPr>
              <a:t>Automated field-level survivorship creating single golden records.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Entity Deduplication: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Eliminated ~15% duplicate entities across master tables.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DataOps Integration: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Airflow validation gates verifying data parity before publish.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My Operating Principles: Velocity &amp; High-Agency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Core professional execution standards defining day-to-day engineering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PwC Acceleration Center India  |  Req 4467378631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7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2410C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5544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Mathematical Parity Before Cutover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574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Never migrate an ETL pipeline based on spot checks. Enforce automated row-count reconciliation, primary key uniqueness tests, and column checksums to guarantee zero data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2410C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5544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Proactive Schema Drift Defense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574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Source schemas change without warning. Build resilient pipelines with Databricks Auto Loader _rescued_data to ensure streaming jobs never halt unexpectedly while capturing unmapped attributes.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2410C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1148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Root-Cause Spark Performance Tuning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Never mask an algorithmic bottleneck by doubling cluster size. Inspect Spark UI DAG execution stages, diagnose partition skew, and apply salting or broadcasting to fix latency permanently.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0690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2410C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1148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Full-Lifecycle High-Agency Ownership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177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Take active ownership from raw source drops to executive Power BI scorecards. Author clear runbooks, establish CI/CD quality gates, and communicate transparently across cross-functional teams.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30-60-90 Day Value Realization Roadmap for PwC Acceleration Center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Phased delivery plan ensuring immediate day-1 contribution and long-term technical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PwC Acceleration Center India  |  Req 4467378631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8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338328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PHASE 1: DAYS 1 TO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6916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Immersion &amp; Baseline 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Pipeline Audit: </a:t>
            </a:r>
            <a:r>
              <a:rPr b="0" sz="1300">
                <a:solidFill>
                  <a:srgbClr val="334155"/>
                </a:solidFill>
                <a:latin typeface="Arial"/>
              </a:rPr>
              <a:t>Review existing Airflow DAGs, ADLS storage, and Spark logs.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Bottleneck Identification: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Map compute cost hotspots, query bottlenecks, and skew.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Incident Ownership: </a:t>
            </a:r>
            <a:r>
              <a:rPr b="0" sz="1300">
                <a:solidFill>
                  <a:srgbClr val="334155"/>
                </a:solidFill>
                <a:latin typeface="Arial"/>
              </a:rPr>
              <a:t>Take ownership of ETL batch runs and SLA alert triage.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Day-1 Quick Win: </a:t>
            </a:r>
            <a:r>
              <a:rPr b="0" sz="1300">
                <a:solidFill>
                  <a:srgbClr val="334155"/>
                </a:solidFill>
                <a:latin typeface="Arial"/>
              </a:rPr>
              <a:t>Deliver priority pipeline bug fixes with 100% test coverage.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371600"/>
            <a:ext cx="338328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4173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PHASE 2: DAYS 31 TO 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6916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Lakehouse Modernization &amp;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Delta Migration: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Modernize priority batch workflows to Databricks Auto Loader.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PySpark Tuning: </a:t>
            </a:r>
            <a:r>
              <a:rPr b="0" sz="1300">
                <a:solidFill>
                  <a:srgbClr val="334155"/>
                </a:solidFill>
                <a:latin typeface="Arial"/>
              </a:rPr>
              <a:t>Implement salting, broadcast joins, and partition pruning.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Compaction Routine: </a:t>
            </a:r>
            <a:r>
              <a:rPr b="0" sz="1300">
                <a:solidFill>
                  <a:srgbClr val="334155"/>
                </a:solidFill>
                <a:latin typeface="Arial"/>
              </a:rPr>
              <a:t>Schedule automated OPTIMIZE, Z-ORDER, and VACUUM jobs.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Data Quality Gates: </a:t>
            </a:r>
            <a:r>
              <a:rPr b="0" sz="1300">
                <a:solidFill>
                  <a:srgbClr val="334155"/>
                </a:solidFill>
                <a:latin typeface="Arial"/>
              </a:rPr>
              <a:t>Establish automated reconciliation asserts in CI/CD.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371600"/>
            <a:ext cx="338328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4173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PHASE 3: DAYS 61 TO 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6916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Governance &amp; Enterprise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Unity Catalog Scale: </a:t>
            </a:r>
            <a:r>
              <a:rPr b="0" sz="1300">
                <a:solidFill>
                  <a:srgbClr val="334155"/>
                </a:solidFill>
                <a:latin typeface="Arial"/>
              </a:rPr>
              <a:t>Expand 3-level namespace RBAC and dynamic column masking.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Curated Data Marts: </a:t>
            </a:r>
            <a:r>
              <a:rPr b="0" sz="1300">
                <a:solidFill>
                  <a:srgbClr val="334155"/>
                </a:solidFill>
                <a:latin typeface="Arial"/>
              </a:rPr>
              <a:t>Design optimized star-schema tables for high-concurrency BI.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BI Acceleration: </a:t>
            </a:r>
            <a:r>
              <a:rPr b="0" sz="1300">
                <a:solidFill>
                  <a:srgbClr val="334155"/>
                </a:solidFill>
                <a:latin typeface="Arial"/>
              </a:rPr>
              <a:t>Partner with analysts to tune Direct Lake and DAX measures.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C2410C"/>
                </a:solidFill>
                <a:latin typeface="Arial"/>
              </a:rPr>
              <a:t>•  </a:t>
            </a:r>
            <a:r>
              <a:rPr b="1" sz="1300">
                <a:solidFill>
                  <a:srgbClr val="0F172A"/>
                </a:solidFill>
                <a:latin typeface="Arial"/>
              </a:rPr>
              <a:t>Engineering Velocity: </a:t>
            </a:r>
            <a:r>
              <a:rPr b="0" sz="1300">
                <a:solidFill>
                  <a:srgbClr val="334155"/>
                </a:solidFill>
                <a:latin typeface="Arial"/>
              </a:rPr>
              <a:t>Author comprehensive runbooks and mentor junior engineers.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