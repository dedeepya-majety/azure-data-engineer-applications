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84FC"/>
                </a:solidFill>
                <a:latin typeface="Arial"/>
              </a:defRPr>
            </a:pPr>
            <a:r>
              <a:t>Azure Data Engineer &amp; Lakehouse Specialist  |  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Accenture in India  |  Data &amp; AI Platform Engineering Practice  |  Req ID: 4476918574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Associate - Data Engineer @ Cognizant: </a:t>
            </a:r>
            <a:r>
              <a:rPr b="0" sz="1300">
                <a:solidFill>
                  <a:srgbClr val="CBD5E1"/>
                </a:solidFill>
                <a:latin typeface="Arial"/>
              </a:rPr>
              <a:t>3.9 YOE delivering enterprise cloud lakehouse solutions.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Databricks Certified Associate: </a:t>
            </a:r>
            <a:r>
              <a:rPr b="0" sz="1300">
                <a:solidFill>
                  <a:srgbClr val="CBD5E1"/>
                </a:solidFill>
                <a:latin typeface="Arial"/>
              </a:rPr>
              <a:t>Hands-on PySpark, Delta Lake, Unity Catalog, and Medallion architecture.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Microsoft Certified PL-300: </a:t>
            </a:r>
            <a:r>
              <a:rPr b="0" sz="1300">
                <a:solidFill>
                  <a:srgbClr val="CBD5E1"/>
                </a:solidFill>
                <a:latin typeface="Arial"/>
              </a:rPr>
              <a:t>Power BI data modeling, DAX optimization, and Direct Lake integration.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Immediate Availability: </a:t>
            </a:r>
            <a:r>
              <a:rPr b="0" sz="1300">
                <a:solidFill>
                  <a:srgbClr val="CBD5E1"/>
                </a:solidFill>
                <a:latin typeface="Arial"/>
              </a:rPr>
              <a:t>Serving official notice period at Cognizant; available to join within 30 days.</a:t>
            </a:r>
          </a:p>
        </p:txBody>
      </p:sp>
      <p:pic>
        <p:nvPicPr>
          <p:cNvPr id="8" name="Picture 7" descr="dedeepya_headshot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051560"/>
            <a:ext cx="292608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4142232"/>
            <a:ext cx="2926080" cy="384048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🟢 AVAILABLE IN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Technical Strategy for Accenture in India: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Lakehouse 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Legacy Cutover: </a:t>
            </a:r>
            <a:r>
              <a:rPr b="0" sz="1300">
                <a:solidFill>
                  <a:srgbClr val="334155"/>
                </a:solidFill>
                <a:latin typeface="Arial"/>
              </a:rPr>
              <a:t>Migrate batch ETL to Azure Databricks Delta Lake and PySpark.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 Loader Streaming: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Continuous file ingestion with RocksDB state tracking.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Zero-Loss Validation: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100% row-count and checksum parity across cutovers.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Measurable ROI: </a:t>
            </a:r>
            <a:r>
              <a:rPr b="0" sz="1300">
                <a:solidFill>
                  <a:srgbClr val="334155"/>
                </a:solidFill>
                <a:latin typeface="Arial"/>
              </a:rPr>
              <a:t>40% pipeline runtime cut and ~30% compute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Performance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Skew Elimination: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Salt hotspot keys and broadcast dimension joins (&lt;10MB).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Leverage Adaptive Query Execution (AQE) for dynamic shuffle.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OPTIMIZE and Z-ORDER on high-cardinality keys.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Orchestration: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Modular Python Airflow DAGs with 99.8% SLA adherence.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Governance &amp;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300">
                <a:solidFill>
                  <a:srgbClr val="334155"/>
                </a:solidFill>
                <a:latin typeface="Arial"/>
              </a:rPr>
              <a:t>3-level namespace (catalog.schema.table) with RBAC policies.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Security: </a:t>
            </a:r>
            <a:r>
              <a:rPr b="0" sz="1300">
                <a:solidFill>
                  <a:srgbClr val="334155"/>
                </a:solidFill>
                <a:latin typeface="Arial"/>
              </a:rPr>
              <a:t>Dynamic column masking and row-level filtering for PII.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Master Data: </a:t>
            </a:r>
            <a:r>
              <a:rPr b="0" sz="1300">
                <a:solidFill>
                  <a:srgbClr val="334155"/>
                </a:solidFill>
                <a:latin typeface="Arial"/>
              </a:rPr>
              <a:t>Informatica MDM match-merge rule tuning for golden records.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Executive BI: </a:t>
            </a:r>
            <a:r>
              <a:rPr b="0" sz="1300">
                <a:solidFill>
                  <a:srgbClr val="334155"/>
                </a:solidFill>
                <a:latin typeface="Arial"/>
              </a:rPr>
              <a:t>Optimized Power BI DAX models and Direct Lake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Visual multi-hop data refinement blueprint: Raw Ingestion ➔ Silver Curated ➔ Gold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42316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SOURCE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Enterprise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On-Premises ERP: </a:t>
            </a:r>
            <a:r>
              <a:rPr b="0" sz="1250">
                <a:solidFill>
                  <a:srgbClr val="334155"/>
                </a:solidFill>
                <a:latin typeface="Arial"/>
              </a:rPr>
              <a:t>Informatica &amp; Oracle DB feeds.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File Drops: </a:t>
            </a:r>
            <a:r>
              <a:rPr b="0" sz="1250">
                <a:solidFill>
                  <a:srgbClr val="334155"/>
                </a:solidFill>
                <a:latin typeface="Arial"/>
              </a:rPr>
              <a:t>CSV, JSON, XML in ADLS Gen2.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REST APIs: </a:t>
            </a:r>
            <a:r>
              <a:rPr b="0" sz="1250">
                <a:solidFill>
                  <a:srgbClr val="334155"/>
                </a:solidFill>
                <a:latin typeface="Arial"/>
              </a:rPr>
              <a:t>External business telemetry streams.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18688" y="3474720"/>
            <a:ext cx="201168" cy="27432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371600"/>
            <a:ext cx="2423160" cy="3657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BRONZE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Raw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Auto Loader: </a:t>
            </a:r>
            <a:r>
              <a:rPr b="0" sz="1250">
                <a:solidFill>
                  <a:srgbClr val="334155"/>
                </a:solidFill>
                <a:latin typeface="Arial"/>
              </a:rPr>
              <a:t>cloudFiles streaming with RocksDB.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Schema Drift: </a:t>
            </a:r>
            <a:r>
              <a:rPr b="0" sz="1250">
                <a:solidFill>
                  <a:srgbClr val="334155"/>
                </a:solidFill>
                <a:latin typeface="Arial"/>
              </a:rPr>
              <a:t>_rescued_data column defense.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Delta Append: </a:t>
            </a:r>
            <a:r>
              <a:rPr b="0" sz="1250">
                <a:solidFill>
                  <a:srgbClr val="334155"/>
                </a:solidFill>
                <a:latin typeface="Arial"/>
              </a:rPr>
              <a:t>Immutable raw audit retention.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3474720"/>
            <a:ext cx="201168" cy="27432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42316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SILVER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Conformed &amp; 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Data Quality: </a:t>
            </a:r>
            <a:r>
              <a:rPr b="0" sz="1250">
                <a:solidFill>
                  <a:srgbClr val="334155"/>
                </a:solidFill>
                <a:latin typeface="Arial"/>
              </a:rPr>
              <a:t>Deduplication &amp; schema contracts.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ACID MERGE: </a:t>
            </a:r>
            <a:r>
              <a:rPr b="0" sz="1250">
                <a:solidFill>
                  <a:srgbClr val="334155"/>
                </a:solidFill>
                <a:latin typeface="Arial"/>
              </a:rPr>
              <a:t>SCD Type 1 &amp; Type 2 tracking.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250">
                <a:solidFill>
                  <a:srgbClr val="334155"/>
                </a:solidFill>
                <a:latin typeface="Arial"/>
              </a:rPr>
              <a:t>Table &amp; column RBAC security.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05088" y="3474720"/>
            <a:ext cx="201168" cy="27432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4231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GOLD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Business Marts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Star Schema: </a:t>
            </a:r>
            <a:r>
              <a:rPr b="0" sz="1250">
                <a:solidFill>
                  <a:srgbClr val="334155"/>
                </a:solidFill>
                <a:latin typeface="Arial"/>
              </a:rPr>
              <a:t>Curated Fact &amp; Dimension tables.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250">
                <a:solidFill>
                  <a:srgbClr val="334155"/>
                </a:solidFill>
                <a:latin typeface="Arial"/>
              </a:rPr>
              <a:t>OPTIMIZE &amp; Z-ORDER on join keys.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7E22CE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Serving: </a:t>
            </a:r>
            <a:r>
              <a:rPr b="0" sz="1250">
                <a:solidFill>
                  <a:srgbClr val="334155"/>
                </a:solidFill>
                <a:latin typeface="Arial"/>
              </a:rPr>
              <a:t>Power BI &amp; Databricks Serverless.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Value Delivery Scorecard &amp; Production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Verified quantitative performance improvements and infrastructure optimization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E22CE"/>
                </a:solidFill>
              </a:rPr>
              <a:t>40%</a:t>
            </a:r>
            <a:r>
              <a:rPr sz="1300" b="1">
                <a:solidFill>
                  <a:srgbClr val="059669"/>
                </a:solidFill>
              </a:rPr>
              <a:t>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Pipeline Runtime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Slashed daily batch execution window from 5 hours to under 3 hours via Azure Databricks.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E22CE"/>
                </a:solidFill>
              </a:rPr>
              <a:t>~30%</a:t>
            </a:r>
            <a:r>
              <a:rPr sz="1300" b="1">
                <a:solidFill>
                  <a:srgbClr val="059669"/>
                </a:solidFill>
              </a:rPr>
              <a:t>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Cloud Compute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Cluster rightsizing, auto-termination policies, and spot instance allocation cut cloud bills.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E22CE"/>
                </a:solidFill>
              </a:rPr>
              <a:t>99.8%</a:t>
            </a:r>
            <a:r>
              <a:rPr sz="1300" b="1">
                <a:solidFill>
                  <a:srgbClr val="059669"/>
                </a:solidFill>
              </a:rPr>
              <a:t>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Production SLA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Engineered modular Python Airflow DAGs with exponential retries and automated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E22CE"/>
                </a:solidFill>
              </a:rPr>
              <a:t>~15%</a:t>
            </a:r>
            <a:r>
              <a:rPr sz="1300" b="1">
                <a:solidFill>
                  <a:srgbClr val="059669"/>
                </a:solidFill>
              </a:rPr>
              <a:t>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Duplicate Record Elimination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Tuned Informatica MDM match-merge logic, establishing unified golden customer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BEFORE VS AFTER VALUE REALIZATION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Daily Pipeline Execution Window: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38912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38912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Legacy Informatica: 5.0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736592"/>
            <a:ext cx="2560320" cy="29260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7365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Databricks: 2.8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52628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5720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44% RUNTIME 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66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Cloud Compute Infrastructure Spend: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16636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16636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Unoptimized Baseline Spend (100%)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513832"/>
            <a:ext cx="32004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551383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Rightsized &amp; Spot Compute (70%)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30352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349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30% COST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PySpark Performance Tuning &amp; Troubleshooting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DATA SKEW &amp; 200TH TASK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Partition Skew Diagnosis &amp; Salting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199 tasks finish in 10s; 200th task spills to disk for 35 mins.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Key Salting via concat(key, floor(rand() * 10)) to disperse hotspot keys uniformly across executors.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100% uniform executor utilization and elimination of straggler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SHUFFLE OVERHEAD &amp; NETWORK 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Broadcast Hash Join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Costly SortMergeJoin triggering multi-GB shuffle across network.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Force broadcast(dim_df) for lookup and dimension tables under 10MB.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Zero network shuffle stage, cutting join execution latency by up to 70%.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CONTAINER CRASH &amp; 137 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Executor Memory &amp; OOM Shielding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Driver crashes or ExecutorLostFailure with exit code 137.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Ban collect() on large datasets, tune spark.memory.fraction, and persist with MEMORY_AND_DISK_SER.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Rock-solid pipeline execution with zero container evictions.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QUERY PLANNING DRAG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Small File Compaction &amp; Z-ORDER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Streaming sink generates 10,000+ tiny sub-MB files, stalling query scans.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Enable autoCompact and optimizeWrite; schedule scheduled OPTIMIZE table ZORDER BY (high_cardinality_keys).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7E22CE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Sub-second analytical queries via file-skipping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Governance &amp; Master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Dual-engine architecture for centralized access control, lineage, and golden record survivorship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Databricks Unity Catalog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3-Level Namespace: </a:t>
            </a:r>
            <a:r>
              <a:rPr b="0" sz="1300">
                <a:solidFill>
                  <a:srgbClr val="334155"/>
                </a:solidFill>
                <a:latin typeface="Arial"/>
              </a:rPr>
              <a:t>Hierarchical governance across catalog.schema.table.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Fine-Grained RBAC: </a:t>
            </a:r>
            <a:r>
              <a:rPr b="0" sz="1300">
                <a:solidFill>
                  <a:srgbClr val="334155"/>
                </a:solidFill>
                <a:latin typeface="Arial"/>
              </a:rPr>
              <a:t>Role-based access permissions tailored for data consumers.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Dynamic Column Masking: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redaction of sensitive customer PII.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Row-Level Filtering: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Context-aware data filtering based on business domain.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Automated Lineage: </a:t>
            </a:r>
            <a:r>
              <a:rPr b="0" sz="1300">
                <a:solidFill>
                  <a:srgbClr val="334155"/>
                </a:solidFill>
                <a:latin typeface="Arial"/>
              </a:rPr>
              <a:t>End-to-end provenance tracking from ingestion to Power BI.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Compliance Auditing: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Immutable query audit logs for regulatory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Informatica Master Data Management (MDM)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Deterministic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Exact matching rules across enterprise primary keys.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Probabilistic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Fuzzy string match rules for customer names and addresses.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Trust Decay Scoring: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Configured confidence curves prioritizing verified CRM data.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Survivorship Logic: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field-level survivorship creating single golden records.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Entity Deduplication: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Eliminated ~15% duplicate entities across master tables.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DataOps Integration: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Airflow validation gates verifying data parity before publish.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Core professional execution standards defining day-to-day engineering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E22C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Parity Before Cutover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migrate an ETL pipeline based on spot checks. Enforce automated row-count reconciliation, primary key uniqueness tests, and column checksums to guarantee zero data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E22C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Proactive Schema Drift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Source schemas change without warning. Build resilient pipelines with Databricks Auto Loader _rescued_data to ensure streaming jobs never halt unexpectedly while capturing unmapped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E22C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Root-Cause Spark Performance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mask an algorithmic bottleneck by doubling cluster size. Inspect Spark UI DAG execution stages, diagnose partition skew, and apply salting or broadcasting to fix latency permanently.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E22C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Full-Lifecycle High-Agency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Take active ownership from raw source drops to executive Power BI scorecards. Author clear runbooks, establish CI/CD quality gates, and communicate transparently across cross-functional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30-60-90 Day Value Realization Roadmap for Accenture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1: DAYS 1 TO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Immersion &amp; Baseline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Pipeline Audit: </a:t>
            </a:r>
            <a:r>
              <a:rPr b="0" sz="1300">
                <a:solidFill>
                  <a:srgbClr val="334155"/>
                </a:solidFill>
                <a:latin typeface="Arial"/>
              </a:rPr>
              <a:t>Review existing Airflow DAGs, ADLS storage, and Spark logs.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Bottleneck Identification: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Map compute cost hotspots, query bottlenecks, and skew.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Incident Ownership: </a:t>
            </a:r>
            <a:r>
              <a:rPr b="0" sz="1300">
                <a:solidFill>
                  <a:srgbClr val="334155"/>
                </a:solidFill>
                <a:latin typeface="Arial"/>
              </a:rPr>
              <a:t>Take ownership of ETL batch runs and SLA alert triage.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Day-1 Quick Win: </a:t>
            </a:r>
            <a:r>
              <a:rPr b="0" sz="1300">
                <a:solidFill>
                  <a:srgbClr val="334155"/>
                </a:solidFill>
                <a:latin typeface="Arial"/>
              </a:rPr>
              <a:t>Deliver priority pipeline bug fixes with 100% test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2: DAYS 31 TO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Lakehouse Modernization &amp;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Delta Migration: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Modernize priority batch workflows to Databricks Auto Loader.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PySpark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Implement salting, broadcast joins, and partition pruning.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 Routine: </a:t>
            </a:r>
            <a:r>
              <a:rPr b="0" sz="1300">
                <a:solidFill>
                  <a:srgbClr val="334155"/>
                </a:solidFill>
                <a:latin typeface="Arial"/>
              </a:rPr>
              <a:t>Schedule automated OPTIMIZE, Z-ORDER, and VACUUM jobs.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Quality Gates: </a:t>
            </a:r>
            <a:r>
              <a:rPr b="0" sz="1300">
                <a:solidFill>
                  <a:srgbClr val="334155"/>
                </a:solidFill>
                <a:latin typeface="Arial"/>
              </a:rPr>
              <a:t>Establish automated reconciliation asserts in CI/CD.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3: DAYS 61 TO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Governance &amp; Enterprise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 Scale: </a:t>
            </a:r>
            <a:r>
              <a:rPr b="0" sz="1300">
                <a:solidFill>
                  <a:srgbClr val="334155"/>
                </a:solidFill>
                <a:latin typeface="Arial"/>
              </a:rPr>
              <a:t>Expand 3-level namespace RBAC and dynamic column masking.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Curated Data Marts: </a:t>
            </a:r>
            <a:r>
              <a:rPr b="0" sz="1300">
                <a:solidFill>
                  <a:srgbClr val="334155"/>
                </a:solidFill>
                <a:latin typeface="Arial"/>
              </a:rPr>
              <a:t>Design optimized star-schema tables for high-concurrency BI.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BI Acceleration: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Partner with analysts to tune Direct Lake and DAX measures.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7E22CE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Engineering Velocity: </a:t>
            </a:r>
            <a:r>
              <a:rPr b="0" sz="1300">
                <a:solidFill>
                  <a:srgbClr val="334155"/>
                </a:solidFill>
                <a:latin typeface="Arial"/>
              </a:rPr>
              <a:t>Author comprehensive runbooks and mentor junior engineers.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