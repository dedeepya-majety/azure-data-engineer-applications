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73152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Arial"/>
              </a:defRPr>
            </a:pPr>
            <a:r>
              <a:t>Dedeepya Majety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BBF24"/>
                </a:solidFill>
                <a:latin typeface="Arial"/>
              </a:defRPr>
            </a:pPr>
            <a:r>
              <a:t>Azure Data Engineer &amp; Lakehouse Specialist  |  Azure Data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EY Global Delivery Services  |  AI and DATA (D&amp;A) / Metadata Management Practice  |  Req ID: 4477576256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50">
                <a:solidFill>
                  <a:srgbClr val="F59E0B"/>
                </a:solidFill>
                <a:latin typeface="Arial"/>
              </a:rPr>
              <a:t>•  </a:t>
            </a:r>
            <a:r>
              <a:rPr b="1" sz="1350">
                <a:solidFill>
                  <a:srgbClr val="FFFFFF"/>
                </a:solidFill>
                <a:latin typeface="Arial"/>
              </a:rPr>
              <a:t>Associate - Data Engineer @ Cognizant: </a:t>
            </a:r>
            <a:r>
              <a:rPr b="0" sz="1350">
                <a:solidFill>
                  <a:srgbClr val="CBD5E1"/>
                </a:solidFill>
                <a:latin typeface="Arial"/>
              </a:rPr>
              <a:t>3.9 YOE delivering enterprise cloud lakehouse solutions.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F59E0B"/>
                </a:solidFill>
                <a:latin typeface="Arial"/>
              </a:rPr>
              <a:t>•  </a:t>
            </a:r>
            <a:r>
              <a:rPr b="1" sz="1350">
                <a:solidFill>
                  <a:srgbClr val="FFFFFF"/>
                </a:solidFill>
                <a:latin typeface="Arial"/>
              </a:rPr>
              <a:t>Databricks Certified Associate: </a:t>
            </a:r>
            <a:r>
              <a:rPr b="0" sz="1350">
                <a:solidFill>
                  <a:srgbClr val="CBD5E1"/>
                </a:solidFill>
                <a:latin typeface="Arial"/>
              </a:rPr>
              <a:t>Hands-on PySpark, Delta Lake, Unity Catalog, and Medallion architecture.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F59E0B"/>
                </a:solidFill>
                <a:latin typeface="Arial"/>
              </a:rPr>
              <a:t>•  </a:t>
            </a:r>
            <a:r>
              <a:rPr b="1" sz="1350">
                <a:solidFill>
                  <a:srgbClr val="FFFFFF"/>
                </a:solidFill>
                <a:latin typeface="Arial"/>
              </a:rPr>
              <a:t>Microsoft Certified PL-300: </a:t>
            </a:r>
            <a:r>
              <a:rPr b="0" sz="1350">
                <a:solidFill>
                  <a:srgbClr val="CBD5E1"/>
                </a:solidFill>
                <a:latin typeface="Arial"/>
              </a:rPr>
              <a:t>Power BI data modeling, DAX optimization, and Direct Lake integration.</a:t>
            </a:r>
          </a:p>
          <a:p>
            <a:pPr>
              <a:spcAft>
                <a:spcPts val="600"/>
              </a:spcAft>
            </a:pPr>
            <a:r>
              <a:rPr b="1" sz="1350">
                <a:solidFill>
                  <a:srgbClr val="F59E0B"/>
                </a:solidFill>
                <a:latin typeface="Arial"/>
              </a:rPr>
              <a:t>•  </a:t>
            </a:r>
            <a:r>
              <a:rPr b="1" sz="1350">
                <a:solidFill>
                  <a:srgbClr val="FFFFFF"/>
                </a:solidFill>
                <a:latin typeface="Arial"/>
              </a:rPr>
              <a:t>Immediate Availability: </a:t>
            </a:r>
            <a:r>
              <a:rPr b="0" sz="1350">
                <a:solidFill>
                  <a:srgbClr val="CBD5E1"/>
                </a:solidFill>
                <a:latin typeface="Arial"/>
              </a:rPr>
              <a:t>Serving official notice period at Cognizant; available to join within 30 days.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949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Arial"/>
              </a:defRPr>
            </a:pPr>
            <a:r>
              <a:t>+91-6281869953  |  majetydedeepya0@gmail.com  |  linkedin.com/in/dedeepya-majety  |  dedeepya-majety-portfolio.vercel.app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695" cy="4572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My Technical Strategy for EY Global Delivery Services: 3 Core Pillars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High-throughput data engineering, cost efficiency, and automated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Dedeepya Majety  |  Azure Data Engineer  |  EY Global Delivery Services  |  Req 4477576256  |  Available in 30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2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371600"/>
            <a:ext cx="338328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1732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59E0B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4630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Lakehouse Modernization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24028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Legacy Cutover: </a:t>
            </a:r>
            <a:r>
              <a:rPr b="0" sz="1300">
                <a:solidFill>
                  <a:srgbClr val="334155"/>
                </a:solidFill>
                <a:latin typeface="Arial"/>
              </a:rPr>
              <a:t>Migrate batch ETL to Azure Databricks Delta Lake and PySpark.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Auto Loader Streaming: </a:t>
            </a:r>
            <a:r>
              <a:rPr b="0" sz="1300">
                <a:solidFill>
                  <a:srgbClr val="334155"/>
                </a:solidFill>
                <a:latin typeface="Arial"/>
              </a:rPr>
              <a:t>Continuous file ingestion with RocksDB state tracking.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Zero-Loss Validation: </a:t>
            </a:r>
            <a:r>
              <a:rPr b="0" sz="1300">
                <a:solidFill>
                  <a:srgbClr val="334155"/>
                </a:solidFill>
                <a:latin typeface="Arial"/>
              </a:rPr>
              <a:t>100% row-count and checksum parity across cutovers.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Measurable ROI: </a:t>
            </a:r>
            <a:r>
              <a:rPr b="0" sz="1300">
                <a:solidFill>
                  <a:srgbClr val="334155"/>
                </a:solidFill>
                <a:latin typeface="Arial"/>
              </a:rPr>
              <a:t>40% pipeline runtime cut and ~30% compute savings.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3716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371600"/>
            <a:ext cx="338328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41732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59E0B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14630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Performance &amp; 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Skew Elimination: </a:t>
            </a:r>
            <a:r>
              <a:rPr b="0" sz="1300">
                <a:solidFill>
                  <a:srgbClr val="334155"/>
                </a:solidFill>
                <a:latin typeface="Arial"/>
              </a:rPr>
              <a:t>Salt hotspot keys and broadcast dimension joins (&lt;10MB).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Engine Tuning: </a:t>
            </a:r>
            <a:r>
              <a:rPr b="0" sz="1300">
                <a:solidFill>
                  <a:srgbClr val="334155"/>
                </a:solidFill>
                <a:latin typeface="Arial"/>
              </a:rPr>
              <a:t>Leverage Adaptive Query Execution (AQE) for dynamic shuffle.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Compaction: </a:t>
            </a:r>
            <a:r>
              <a:rPr b="0" sz="1300">
                <a:solidFill>
                  <a:srgbClr val="334155"/>
                </a:solidFill>
                <a:latin typeface="Arial"/>
              </a:rPr>
              <a:t>Automated OPTIMIZE and Z-ORDER on high-cardinality keys.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Orchestration: </a:t>
            </a:r>
            <a:r>
              <a:rPr b="0" sz="1300">
                <a:solidFill>
                  <a:srgbClr val="334155"/>
                </a:solidFill>
                <a:latin typeface="Arial"/>
              </a:rPr>
              <a:t>Modular Python Airflow DAGs with 99.8% SLA adherence.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3716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1371600"/>
            <a:ext cx="3383280" cy="7315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41732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59E0B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14630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</a:defRPr>
            </a:pPr>
            <a:r>
              <a:t>Governance &amp; Trust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24028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Unity Catalog: </a:t>
            </a:r>
            <a:r>
              <a:rPr b="0" sz="1300">
                <a:solidFill>
                  <a:srgbClr val="334155"/>
                </a:solidFill>
                <a:latin typeface="Arial"/>
              </a:rPr>
              <a:t>3-level namespace (catalog.schema.table) with RBAC policies.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Data Security: </a:t>
            </a:r>
            <a:r>
              <a:rPr b="0" sz="1300">
                <a:solidFill>
                  <a:srgbClr val="334155"/>
                </a:solidFill>
                <a:latin typeface="Arial"/>
              </a:rPr>
              <a:t>Dynamic column masking and row-level filtering for PII.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Master Data: </a:t>
            </a:r>
            <a:r>
              <a:rPr b="0" sz="1300">
                <a:solidFill>
                  <a:srgbClr val="334155"/>
                </a:solidFill>
                <a:latin typeface="Arial"/>
              </a:rPr>
              <a:t>Informatica MDM match-merge rule tuning for golden records.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Executive BI: </a:t>
            </a:r>
            <a:r>
              <a:rPr b="0" sz="1300">
                <a:solidFill>
                  <a:srgbClr val="334155"/>
                </a:solidFill>
                <a:latin typeface="Arial"/>
              </a:rPr>
              <a:t>Optimized Power BI DAX models and Direct Lake connectivity.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695" cy="4572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Production Medallion Lakehouse Architecture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Visual multi-hop data refinement blueprint: Raw Ingestion ➔ Silver Curated ➔ Gold 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Dedeepya Majety  |  Azure Data Engineer  |  EY Global Delivery Services  |  Req 4477576256  |  Available in 30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3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2423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371600"/>
            <a:ext cx="2423160" cy="36576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389888"/>
            <a:ext cx="2423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SOURCE INGESTION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28800"/>
            <a:ext cx="2148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rial"/>
              </a:defRPr>
            </a:pPr>
            <a:r>
              <a:t>Enterprise Sources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31720"/>
            <a:ext cx="2148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250">
                <a:solidFill>
                  <a:srgbClr val="B45309"/>
                </a:solidFill>
                <a:latin typeface="Arial"/>
              </a:rPr>
              <a:t>•  </a:t>
            </a:r>
            <a:r>
              <a:rPr b="1" sz="1250">
                <a:solidFill>
                  <a:srgbClr val="0F172A"/>
                </a:solidFill>
                <a:latin typeface="Arial"/>
              </a:rPr>
              <a:t>On-Premises ERP: </a:t>
            </a:r>
            <a:r>
              <a:rPr b="0" sz="1250">
                <a:solidFill>
                  <a:srgbClr val="334155"/>
                </a:solidFill>
                <a:latin typeface="Arial"/>
              </a:rPr>
              <a:t>Informatica &amp; Oracle DB feeds.</a:t>
            </a:r>
          </a:p>
          <a:p>
            <a:pPr>
              <a:spcAft>
                <a:spcPts val="1000"/>
              </a:spcAft>
            </a:pPr>
            <a:r>
              <a:rPr b="1" sz="1250">
                <a:solidFill>
                  <a:srgbClr val="B45309"/>
                </a:solidFill>
                <a:latin typeface="Arial"/>
              </a:rPr>
              <a:t>•  </a:t>
            </a:r>
            <a:r>
              <a:rPr b="1" sz="1250">
                <a:solidFill>
                  <a:srgbClr val="0F172A"/>
                </a:solidFill>
                <a:latin typeface="Arial"/>
              </a:rPr>
              <a:t>File Drops: </a:t>
            </a:r>
            <a:r>
              <a:rPr b="0" sz="1250">
                <a:solidFill>
                  <a:srgbClr val="334155"/>
                </a:solidFill>
                <a:latin typeface="Arial"/>
              </a:rPr>
              <a:t>CSV, JSON, XML in ADLS Gen2.</a:t>
            </a:r>
          </a:p>
          <a:p>
            <a:pPr>
              <a:spcAft>
                <a:spcPts val="1000"/>
              </a:spcAft>
            </a:pPr>
            <a:r>
              <a:rPr b="1" sz="1250">
                <a:solidFill>
                  <a:srgbClr val="B45309"/>
                </a:solidFill>
                <a:latin typeface="Arial"/>
              </a:rPr>
              <a:t>•  </a:t>
            </a:r>
            <a:r>
              <a:rPr b="1" sz="1250">
                <a:solidFill>
                  <a:srgbClr val="0F172A"/>
                </a:solidFill>
                <a:latin typeface="Arial"/>
              </a:rPr>
              <a:t>REST APIs: </a:t>
            </a:r>
            <a:r>
              <a:rPr b="0" sz="1250">
                <a:solidFill>
                  <a:srgbClr val="334155"/>
                </a:solidFill>
                <a:latin typeface="Arial"/>
              </a:rPr>
              <a:t>External business telemetry streams.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218688" y="3474720"/>
            <a:ext cx="201168" cy="274320"/>
          </a:xfrm>
          <a:prstGeom prst="rightArrow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74720" y="1371600"/>
            <a:ext cx="2423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0" y="1371600"/>
            <a:ext cx="2423160" cy="365760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1389888"/>
            <a:ext cx="2423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BRONZE TIER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1828800"/>
            <a:ext cx="2148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rial"/>
              </a:defRPr>
            </a:pPr>
            <a:r>
              <a:t>Raw Ingestion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2331720"/>
            <a:ext cx="2148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250">
                <a:solidFill>
                  <a:srgbClr val="B45309"/>
                </a:solidFill>
                <a:latin typeface="Arial"/>
              </a:rPr>
              <a:t>•  </a:t>
            </a:r>
            <a:r>
              <a:rPr b="1" sz="1250">
                <a:solidFill>
                  <a:srgbClr val="0F172A"/>
                </a:solidFill>
                <a:latin typeface="Arial"/>
              </a:rPr>
              <a:t>Auto Loader: </a:t>
            </a:r>
            <a:r>
              <a:rPr b="0" sz="1250">
                <a:solidFill>
                  <a:srgbClr val="334155"/>
                </a:solidFill>
                <a:latin typeface="Arial"/>
              </a:rPr>
              <a:t>cloudFiles streaming with RocksDB.</a:t>
            </a:r>
          </a:p>
          <a:p>
            <a:pPr>
              <a:spcAft>
                <a:spcPts val="1000"/>
              </a:spcAft>
            </a:pPr>
            <a:r>
              <a:rPr b="1" sz="1250">
                <a:solidFill>
                  <a:srgbClr val="B45309"/>
                </a:solidFill>
                <a:latin typeface="Arial"/>
              </a:rPr>
              <a:t>•  </a:t>
            </a:r>
            <a:r>
              <a:rPr b="1" sz="1250">
                <a:solidFill>
                  <a:srgbClr val="0F172A"/>
                </a:solidFill>
                <a:latin typeface="Arial"/>
              </a:rPr>
              <a:t>Schema Drift: </a:t>
            </a:r>
            <a:r>
              <a:rPr b="0" sz="1250">
                <a:solidFill>
                  <a:srgbClr val="334155"/>
                </a:solidFill>
                <a:latin typeface="Arial"/>
              </a:rPr>
              <a:t>_rescued_data column defense.</a:t>
            </a:r>
          </a:p>
          <a:p>
            <a:pPr>
              <a:spcAft>
                <a:spcPts val="1000"/>
              </a:spcAft>
            </a:pPr>
            <a:r>
              <a:rPr b="1" sz="1250">
                <a:solidFill>
                  <a:srgbClr val="B45309"/>
                </a:solidFill>
                <a:latin typeface="Arial"/>
              </a:rPr>
              <a:t>•  </a:t>
            </a:r>
            <a:r>
              <a:rPr b="1" sz="1250">
                <a:solidFill>
                  <a:srgbClr val="0F172A"/>
                </a:solidFill>
                <a:latin typeface="Arial"/>
              </a:rPr>
              <a:t>Delta Append: </a:t>
            </a:r>
            <a:r>
              <a:rPr b="0" sz="1250">
                <a:solidFill>
                  <a:srgbClr val="334155"/>
                </a:solidFill>
                <a:latin typeface="Arial"/>
              </a:rPr>
              <a:t>Immutable raw audit retention.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1888" y="3474720"/>
            <a:ext cx="201168" cy="274320"/>
          </a:xfrm>
          <a:prstGeom prst="rightArrow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0" y="1371600"/>
            <a:ext cx="2423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371600"/>
            <a:ext cx="2423160" cy="36576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389888"/>
            <a:ext cx="2423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SILVER TIER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1828800"/>
            <a:ext cx="2148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rial"/>
              </a:defRPr>
            </a:pPr>
            <a:r>
              <a:t>Conformed &amp; Clean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331720"/>
            <a:ext cx="2148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250">
                <a:solidFill>
                  <a:srgbClr val="B45309"/>
                </a:solidFill>
                <a:latin typeface="Arial"/>
              </a:rPr>
              <a:t>•  </a:t>
            </a:r>
            <a:r>
              <a:rPr b="1" sz="1250">
                <a:solidFill>
                  <a:srgbClr val="0F172A"/>
                </a:solidFill>
                <a:latin typeface="Arial"/>
              </a:rPr>
              <a:t>Data Quality: </a:t>
            </a:r>
            <a:r>
              <a:rPr b="0" sz="1250">
                <a:solidFill>
                  <a:srgbClr val="334155"/>
                </a:solidFill>
                <a:latin typeface="Arial"/>
              </a:rPr>
              <a:t>Deduplication &amp; schema contracts.</a:t>
            </a:r>
          </a:p>
          <a:p>
            <a:pPr>
              <a:spcAft>
                <a:spcPts val="1000"/>
              </a:spcAft>
            </a:pPr>
            <a:r>
              <a:rPr b="1" sz="1250">
                <a:solidFill>
                  <a:srgbClr val="B45309"/>
                </a:solidFill>
                <a:latin typeface="Arial"/>
              </a:rPr>
              <a:t>•  </a:t>
            </a:r>
            <a:r>
              <a:rPr b="1" sz="1250">
                <a:solidFill>
                  <a:srgbClr val="0F172A"/>
                </a:solidFill>
                <a:latin typeface="Arial"/>
              </a:rPr>
              <a:t>ACID MERGE: </a:t>
            </a:r>
            <a:r>
              <a:rPr b="0" sz="1250">
                <a:solidFill>
                  <a:srgbClr val="334155"/>
                </a:solidFill>
                <a:latin typeface="Arial"/>
              </a:rPr>
              <a:t>SCD Type 1 &amp; Type 2 tracking.</a:t>
            </a:r>
          </a:p>
          <a:p>
            <a:pPr>
              <a:spcAft>
                <a:spcPts val="1000"/>
              </a:spcAft>
            </a:pPr>
            <a:r>
              <a:rPr b="1" sz="1250">
                <a:solidFill>
                  <a:srgbClr val="B45309"/>
                </a:solidFill>
                <a:latin typeface="Arial"/>
              </a:rPr>
              <a:t>•  </a:t>
            </a:r>
            <a:r>
              <a:rPr b="1" sz="1250">
                <a:solidFill>
                  <a:srgbClr val="0F172A"/>
                </a:solidFill>
                <a:latin typeface="Arial"/>
              </a:rPr>
              <a:t>Unity Catalog: </a:t>
            </a:r>
            <a:r>
              <a:rPr b="0" sz="1250">
                <a:solidFill>
                  <a:srgbClr val="334155"/>
                </a:solidFill>
                <a:latin typeface="Arial"/>
              </a:rPr>
              <a:t>Table &amp; column RBAC security.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705088" y="3474720"/>
            <a:ext cx="201168" cy="274320"/>
          </a:xfrm>
          <a:prstGeom prst="rightArrow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961120" y="1371600"/>
            <a:ext cx="242316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61120" y="1371600"/>
            <a:ext cx="2423160" cy="3657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0" y="1389888"/>
            <a:ext cx="2423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GOLD TIER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1828800"/>
            <a:ext cx="2148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rial"/>
              </a:defRPr>
            </a:pPr>
            <a:r>
              <a:t>Business Marts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2331720"/>
            <a:ext cx="2148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250">
                <a:solidFill>
                  <a:srgbClr val="B45309"/>
                </a:solidFill>
                <a:latin typeface="Arial"/>
              </a:rPr>
              <a:t>•  </a:t>
            </a:r>
            <a:r>
              <a:rPr b="1" sz="1250">
                <a:solidFill>
                  <a:srgbClr val="0F172A"/>
                </a:solidFill>
                <a:latin typeface="Arial"/>
              </a:rPr>
              <a:t>Star Schema: </a:t>
            </a:r>
            <a:r>
              <a:rPr b="0" sz="1250">
                <a:solidFill>
                  <a:srgbClr val="334155"/>
                </a:solidFill>
                <a:latin typeface="Arial"/>
              </a:rPr>
              <a:t>Curated Fact &amp; Dimension tables.</a:t>
            </a:r>
          </a:p>
          <a:p>
            <a:pPr>
              <a:spcAft>
                <a:spcPts val="1000"/>
              </a:spcAft>
            </a:pPr>
            <a:r>
              <a:rPr b="1" sz="1250">
                <a:solidFill>
                  <a:srgbClr val="B45309"/>
                </a:solidFill>
                <a:latin typeface="Arial"/>
              </a:rPr>
              <a:t>•  </a:t>
            </a:r>
            <a:r>
              <a:rPr b="1" sz="1250">
                <a:solidFill>
                  <a:srgbClr val="0F172A"/>
                </a:solidFill>
                <a:latin typeface="Arial"/>
              </a:rPr>
              <a:t>Compaction: </a:t>
            </a:r>
            <a:r>
              <a:rPr b="0" sz="1250">
                <a:solidFill>
                  <a:srgbClr val="334155"/>
                </a:solidFill>
                <a:latin typeface="Arial"/>
              </a:rPr>
              <a:t>OPTIMIZE &amp; Z-ORDER on join keys.</a:t>
            </a:r>
          </a:p>
          <a:p>
            <a:pPr>
              <a:spcAft>
                <a:spcPts val="1000"/>
              </a:spcAft>
            </a:pPr>
            <a:r>
              <a:rPr b="1" sz="1250">
                <a:solidFill>
                  <a:srgbClr val="B45309"/>
                </a:solidFill>
                <a:latin typeface="Arial"/>
              </a:rPr>
              <a:t>•  </a:t>
            </a:r>
            <a:r>
              <a:rPr b="1" sz="1250">
                <a:solidFill>
                  <a:srgbClr val="0F172A"/>
                </a:solidFill>
                <a:latin typeface="Arial"/>
              </a:rPr>
              <a:t>Serving: </a:t>
            </a:r>
            <a:r>
              <a:rPr b="0" sz="1250">
                <a:solidFill>
                  <a:srgbClr val="334155"/>
                </a:solidFill>
                <a:latin typeface="Arial"/>
              </a:rPr>
              <a:t>Power BI &amp; Databricks Serverless.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695" cy="4572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Enterprise Value Delivery Scorecard &amp; Production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Verified quantitative performance improvements and infrastructure optimization across 3.9 YOE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Dedeepya Majety  |  Azure Data Engineer  |  EY Global Delivery Services  |  Req 4477576256  |  Available in 30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4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24688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46304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B45309"/>
                </a:solidFill>
              </a:rPr>
              <a:t>40%</a:t>
            </a:r>
            <a:r>
              <a:rPr sz="1300" b="1">
                <a:solidFill>
                  <a:srgbClr val="059669"/>
                </a:solidFill>
              </a:rPr>
              <a:t> FASTER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05740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Pipeline Runtime Reduction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51460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34155"/>
                </a:solidFill>
              </a:defRPr>
            </a:pPr>
            <a:r>
              <a:t>Slashed daily batch execution window from 5 hours to under 3 hours via Azure Databricks.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1371600"/>
            <a:ext cx="24688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146304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B45309"/>
                </a:solidFill>
              </a:rPr>
              <a:t>~30%</a:t>
            </a:r>
            <a:r>
              <a:rPr sz="1300" b="1">
                <a:solidFill>
                  <a:srgbClr val="059669"/>
                </a:solidFill>
              </a:rPr>
              <a:t> SAVED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05740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Cloud Compute Savings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51460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34155"/>
                </a:solidFill>
              </a:defRPr>
            </a:pPr>
            <a:r>
              <a:t>Cluster rightsizing, auto-termination policies, and spot instance allocation cut cloud bills.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371600"/>
            <a:ext cx="24688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46304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B45309"/>
                </a:solidFill>
              </a:rPr>
              <a:t>99.8%</a:t>
            </a:r>
            <a:r>
              <a:rPr sz="1300" b="1">
                <a:solidFill>
                  <a:srgbClr val="059669"/>
                </a:solidFill>
              </a:rPr>
              <a:t> UPTIME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05740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Production SLA Reliability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51460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34155"/>
                </a:solidFill>
              </a:defRPr>
            </a:pPr>
            <a:r>
              <a:t>Engineered modular Python Airflow DAGs with exponential retries and automated alerts.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0" y="1371600"/>
            <a:ext cx="24688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98280" y="146304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B45309"/>
                </a:solidFill>
              </a:rPr>
              <a:t>~15%</a:t>
            </a:r>
            <a:r>
              <a:rPr sz="1300" b="1">
                <a:solidFill>
                  <a:srgbClr val="059669"/>
                </a:solidFill>
              </a:rPr>
              <a:t> CLEANUP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Duplicate Record Elimination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251460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334155"/>
                </a:solidFill>
              </a:defRPr>
            </a:pPr>
            <a:r>
              <a:t>Tuned Informatica MDM match-merge logic, establishing unified golden customer records.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840480"/>
            <a:ext cx="106984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BEFORE VS AFTER VALUE REALIZATION BENCHMARK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38912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Daily Pipeline Execution Window: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389120"/>
            <a:ext cx="4572000" cy="29260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06240" y="4389120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34155"/>
                </a:solidFill>
              </a:defRPr>
            </a:pPr>
            <a:r>
              <a:t>Legacy Informatica: 5.0 Hours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4736592"/>
            <a:ext cx="2560320" cy="29260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0" y="4736592"/>
            <a:ext cx="2377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Databricks: 2.8 Hours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61120" y="4526280"/>
            <a:ext cx="2103120" cy="411480"/>
          </a:xfrm>
          <a:prstGeom prst="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0" y="45720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059669"/>
                </a:solidFill>
              </a:defRPr>
            </a:pPr>
            <a:r>
              <a:t>▼ 44% RUNTIME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16636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Cloud Compute Infrastructure Spend: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0" y="5166360"/>
            <a:ext cx="4572000" cy="29260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06240" y="5166360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34155"/>
                </a:solidFill>
              </a:defRPr>
            </a:pPr>
            <a:r>
              <a:t>Unoptimized Baseline Spend (100%)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513832"/>
            <a:ext cx="3200400" cy="2926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06240" y="5513832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Rightsized &amp; Spot Compute (70%)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61120" y="5303520"/>
            <a:ext cx="2103120" cy="411480"/>
          </a:xfrm>
          <a:prstGeom prst="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61120" y="534924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059669"/>
                </a:solidFill>
              </a:defRPr>
            </a:pPr>
            <a:r>
              <a:t>▼ 30% COST SAVINGS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695" cy="4572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PySpark Performance Tuning &amp; Troubleshooting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Solving distributed data skew, memory bottlenecks, and executor failures at the root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Dedeepya Majety  |  Azure Data Engineer  |  EY Global Delivery Services  |  Req 4477576256  |  Available in 30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5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371600"/>
            <a:ext cx="521208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1732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59E0B"/>
                </a:solidFill>
              </a:defRPr>
            </a:pPr>
            <a:r>
              <a:t>DATA SKEW &amp; 200TH TASK STALL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Partition Skew Diagnosis &amp; Salting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19456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200">
                <a:solidFill>
                  <a:srgbClr val="B45309"/>
                </a:solidFill>
                <a:latin typeface="Arial"/>
              </a:rPr>
              <a:t>•  </a:t>
            </a:r>
            <a:r>
              <a:rPr b="1" sz="1200">
                <a:solidFill>
                  <a:srgbClr val="0F172A"/>
                </a:solidFill>
                <a:latin typeface="Arial"/>
              </a:rPr>
              <a:t>Symptom: </a:t>
            </a:r>
            <a:r>
              <a:rPr b="0" sz="1200">
                <a:solidFill>
                  <a:srgbClr val="334155"/>
                </a:solidFill>
                <a:latin typeface="Arial"/>
              </a:rPr>
              <a:t>199 tasks finish in 10s; 200th task spills to disk for 35 mins.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B45309"/>
                </a:solidFill>
                <a:latin typeface="Arial"/>
              </a:rPr>
              <a:t>•  </a:t>
            </a:r>
            <a:r>
              <a:rPr b="1" sz="1200">
                <a:solidFill>
                  <a:srgbClr val="0F172A"/>
                </a:solidFill>
                <a:latin typeface="Arial"/>
              </a:rPr>
              <a:t>Engineered Fix: </a:t>
            </a:r>
            <a:r>
              <a:rPr b="0" sz="1200">
                <a:solidFill>
                  <a:srgbClr val="334155"/>
                </a:solidFill>
                <a:latin typeface="Arial"/>
              </a:rPr>
              <a:t>Key Salting via concat(key, floor(rand() * 10)) to disperse hotspot keys uniformly across executors.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B45309"/>
                </a:solidFill>
                <a:latin typeface="Arial"/>
              </a:rPr>
              <a:t>•  </a:t>
            </a:r>
            <a:r>
              <a:rPr b="1" sz="1200">
                <a:solidFill>
                  <a:srgbClr val="0F172A"/>
                </a:solidFill>
                <a:latin typeface="Arial"/>
              </a:rPr>
              <a:t>Verified Impact: </a:t>
            </a:r>
            <a:r>
              <a:rPr b="0" sz="1200">
                <a:solidFill>
                  <a:srgbClr val="334155"/>
                </a:solidFill>
                <a:latin typeface="Arial"/>
              </a:rPr>
              <a:t>100% uniform executor utilization and elimination of straggler tasks.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521208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41732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59E0B"/>
                </a:solidFill>
              </a:defRPr>
            </a:pPr>
            <a:r>
              <a:t>SHUFFLE OVERHEAD &amp; NETWORK 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Broadcast Hash Join Optimization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9456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200">
                <a:solidFill>
                  <a:srgbClr val="B45309"/>
                </a:solidFill>
                <a:latin typeface="Arial"/>
              </a:rPr>
              <a:t>•  </a:t>
            </a:r>
            <a:r>
              <a:rPr b="1" sz="1200">
                <a:solidFill>
                  <a:srgbClr val="0F172A"/>
                </a:solidFill>
                <a:latin typeface="Arial"/>
              </a:rPr>
              <a:t>Symptom: </a:t>
            </a:r>
            <a:r>
              <a:rPr b="0" sz="1200">
                <a:solidFill>
                  <a:srgbClr val="334155"/>
                </a:solidFill>
                <a:latin typeface="Arial"/>
              </a:rPr>
              <a:t>Costly SortMergeJoin triggering multi-GB shuffle across network.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B45309"/>
                </a:solidFill>
                <a:latin typeface="Arial"/>
              </a:rPr>
              <a:t>•  </a:t>
            </a:r>
            <a:r>
              <a:rPr b="1" sz="1200">
                <a:solidFill>
                  <a:srgbClr val="0F172A"/>
                </a:solidFill>
                <a:latin typeface="Arial"/>
              </a:rPr>
              <a:t>Engineered Fix: </a:t>
            </a:r>
            <a:r>
              <a:rPr b="0" sz="1200">
                <a:solidFill>
                  <a:srgbClr val="334155"/>
                </a:solidFill>
                <a:latin typeface="Arial"/>
              </a:rPr>
              <a:t>Force broadcast(dim_df) for lookup and dimension tables under 10MB.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B45309"/>
                </a:solidFill>
                <a:latin typeface="Arial"/>
              </a:rPr>
              <a:t>•  </a:t>
            </a:r>
            <a:r>
              <a:rPr b="1" sz="1200">
                <a:solidFill>
                  <a:srgbClr val="0F172A"/>
                </a:solidFill>
                <a:latin typeface="Arial"/>
              </a:rPr>
              <a:t>Verified Impact: </a:t>
            </a:r>
            <a:r>
              <a:rPr b="0" sz="1200">
                <a:solidFill>
                  <a:srgbClr val="334155"/>
                </a:solidFill>
                <a:latin typeface="Arial"/>
              </a:rPr>
              <a:t>Zero network shuffle stage, cutting join execution latency by up to 70%.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93192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3931920"/>
            <a:ext cx="521208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9776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59E0B"/>
                </a:solidFill>
              </a:defRPr>
            </a:pPr>
            <a:r>
              <a:t>CONTAINER CRASH &amp; 137 OOM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3434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Executor Memory &amp; OOM Shielding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75488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200">
                <a:solidFill>
                  <a:srgbClr val="B45309"/>
                </a:solidFill>
                <a:latin typeface="Arial"/>
              </a:rPr>
              <a:t>•  </a:t>
            </a:r>
            <a:r>
              <a:rPr b="1" sz="1200">
                <a:solidFill>
                  <a:srgbClr val="0F172A"/>
                </a:solidFill>
                <a:latin typeface="Arial"/>
              </a:rPr>
              <a:t>Symptom: </a:t>
            </a:r>
            <a:r>
              <a:rPr b="0" sz="1200">
                <a:solidFill>
                  <a:srgbClr val="334155"/>
                </a:solidFill>
                <a:latin typeface="Arial"/>
              </a:rPr>
              <a:t>Driver crashes or ExecutorLostFailure with exit code 137.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B45309"/>
                </a:solidFill>
                <a:latin typeface="Arial"/>
              </a:rPr>
              <a:t>•  </a:t>
            </a:r>
            <a:r>
              <a:rPr b="1" sz="1200">
                <a:solidFill>
                  <a:srgbClr val="0F172A"/>
                </a:solidFill>
                <a:latin typeface="Arial"/>
              </a:rPr>
              <a:t>Engineered Fix: </a:t>
            </a:r>
            <a:r>
              <a:rPr b="0" sz="1200">
                <a:solidFill>
                  <a:srgbClr val="334155"/>
                </a:solidFill>
                <a:latin typeface="Arial"/>
              </a:rPr>
              <a:t>Ban collect() on large datasets, tune spark.memory.fraction, and persist with MEMORY_AND_DISK_SER.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B45309"/>
                </a:solidFill>
                <a:latin typeface="Arial"/>
              </a:rPr>
              <a:t>•  </a:t>
            </a:r>
            <a:r>
              <a:rPr b="1" sz="1200">
                <a:solidFill>
                  <a:srgbClr val="0F172A"/>
                </a:solidFill>
                <a:latin typeface="Arial"/>
              </a:rPr>
              <a:t>Verified Impact: </a:t>
            </a:r>
            <a:r>
              <a:rPr b="0" sz="1200">
                <a:solidFill>
                  <a:srgbClr val="334155"/>
                </a:solidFill>
                <a:latin typeface="Arial"/>
              </a:rPr>
              <a:t>Rock-solid pipeline execution with zero container evictions.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93192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931920"/>
            <a:ext cx="5212080" cy="3657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776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59E0B"/>
                </a:solidFill>
              </a:defRPr>
            </a:pPr>
            <a:r>
              <a:t>QUERY PLANNING DRAG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34340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Small File Compaction &amp; Z-ORDER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5488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b="1" sz="1200">
                <a:solidFill>
                  <a:srgbClr val="B45309"/>
                </a:solidFill>
                <a:latin typeface="Arial"/>
              </a:rPr>
              <a:t>•  </a:t>
            </a:r>
            <a:r>
              <a:rPr b="1" sz="1200">
                <a:solidFill>
                  <a:srgbClr val="0F172A"/>
                </a:solidFill>
                <a:latin typeface="Arial"/>
              </a:rPr>
              <a:t>Symptom: </a:t>
            </a:r>
            <a:r>
              <a:rPr b="0" sz="1200">
                <a:solidFill>
                  <a:srgbClr val="334155"/>
                </a:solidFill>
                <a:latin typeface="Arial"/>
              </a:rPr>
              <a:t>Streaming sink generates 10,000+ tiny sub-MB files, stalling query scans.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B45309"/>
                </a:solidFill>
                <a:latin typeface="Arial"/>
              </a:rPr>
              <a:t>•  </a:t>
            </a:r>
            <a:r>
              <a:rPr b="1" sz="1200">
                <a:solidFill>
                  <a:srgbClr val="0F172A"/>
                </a:solidFill>
                <a:latin typeface="Arial"/>
              </a:rPr>
              <a:t>Engineered Fix: </a:t>
            </a:r>
            <a:r>
              <a:rPr b="0" sz="1200">
                <a:solidFill>
                  <a:srgbClr val="334155"/>
                </a:solidFill>
                <a:latin typeface="Arial"/>
              </a:rPr>
              <a:t>Enable autoCompact and optimizeWrite; schedule scheduled OPTIMIZE table ZORDER BY (high_cardinality_keys).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B45309"/>
                </a:solidFill>
                <a:latin typeface="Arial"/>
              </a:rPr>
              <a:t>•  </a:t>
            </a:r>
            <a:r>
              <a:rPr b="1" sz="1200">
                <a:solidFill>
                  <a:srgbClr val="0F172A"/>
                </a:solidFill>
                <a:latin typeface="Arial"/>
              </a:rPr>
              <a:t>Verified Impact: </a:t>
            </a:r>
            <a:r>
              <a:rPr b="0" sz="1200">
                <a:solidFill>
                  <a:srgbClr val="334155"/>
                </a:solidFill>
                <a:latin typeface="Arial"/>
              </a:rPr>
              <a:t>Sub-second analytical queries via file-skipping metadata.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695" cy="4572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Enterprise Governance &amp; Master Data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Dual-engine architecture for centralized access control, lineage, and golden record survivorship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Dedeepya Majety  |  Azure Data Engineer  |  EY Global Delivery Services  |  Req 4477576256  |  Available in 30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6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371600"/>
            <a:ext cx="5120640" cy="640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630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Databricks Unity Catalog Governance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3-Level Namespace: </a:t>
            </a:r>
            <a:r>
              <a:rPr b="0" sz="1300">
                <a:solidFill>
                  <a:srgbClr val="334155"/>
                </a:solidFill>
                <a:latin typeface="Arial"/>
              </a:rPr>
              <a:t>Hierarchical governance across catalog.schema.table.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Fine-Grained RBAC: </a:t>
            </a:r>
            <a:r>
              <a:rPr b="0" sz="1300">
                <a:solidFill>
                  <a:srgbClr val="334155"/>
                </a:solidFill>
                <a:latin typeface="Arial"/>
              </a:rPr>
              <a:t>Role-based access permissions tailored for data consumers.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Dynamic Column Masking: </a:t>
            </a:r>
            <a:r>
              <a:rPr b="0" sz="1300">
                <a:solidFill>
                  <a:srgbClr val="334155"/>
                </a:solidFill>
                <a:latin typeface="Arial"/>
              </a:rPr>
              <a:t>Automated redaction of sensitive customer PII.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Row-Level Filtering: </a:t>
            </a:r>
            <a:r>
              <a:rPr b="0" sz="1300">
                <a:solidFill>
                  <a:srgbClr val="334155"/>
                </a:solidFill>
                <a:latin typeface="Arial"/>
              </a:rPr>
              <a:t>Context-aware data filtering based on business domain.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Automated Lineage: </a:t>
            </a:r>
            <a:r>
              <a:rPr b="0" sz="1300">
                <a:solidFill>
                  <a:srgbClr val="334155"/>
                </a:solidFill>
                <a:latin typeface="Arial"/>
              </a:rPr>
              <a:t>End-to-end provenance tracking from ingestion to Power BI.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Compliance Auditing: </a:t>
            </a:r>
            <a:r>
              <a:rPr b="0" sz="1300">
                <a:solidFill>
                  <a:srgbClr val="334155"/>
                </a:solidFill>
                <a:latin typeface="Arial"/>
              </a:rPr>
              <a:t>Immutable query audit logs for regulatory readiness.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5120640" cy="6400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4630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Informatica Master Data Management (MDM)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Deterministic Matching: </a:t>
            </a:r>
            <a:r>
              <a:rPr b="0" sz="1300">
                <a:solidFill>
                  <a:srgbClr val="334155"/>
                </a:solidFill>
                <a:latin typeface="Arial"/>
              </a:rPr>
              <a:t>Exact matching rules across enterprise primary keys.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Probabilistic Matching: </a:t>
            </a:r>
            <a:r>
              <a:rPr b="0" sz="1300">
                <a:solidFill>
                  <a:srgbClr val="334155"/>
                </a:solidFill>
                <a:latin typeface="Arial"/>
              </a:rPr>
              <a:t>Fuzzy string match rules for customer names and addresses.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Trust Decay Scoring: </a:t>
            </a:r>
            <a:r>
              <a:rPr b="0" sz="1300">
                <a:solidFill>
                  <a:srgbClr val="334155"/>
                </a:solidFill>
                <a:latin typeface="Arial"/>
              </a:rPr>
              <a:t>Configured confidence curves prioritizing verified CRM data.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Survivorship Logic: </a:t>
            </a:r>
            <a:r>
              <a:rPr b="0" sz="1300">
                <a:solidFill>
                  <a:srgbClr val="334155"/>
                </a:solidFill>
                <a:latin typeface="Arial"/>
              </a:rPr>
              <a:t>Automated field-level survivorship creating single golden records.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Entity Deduplication: </a:t>
            </a:r>
            <a:r>
              <a:rPr b="0" sz="1300">
                <a:solidFill>
                  <a:srgbClr val="334155"/>
                </a:solidFill>
                <a:latin typeface="Arial"/>
              </a:rPr>
              <a:t>Eliminated ~15% duplicate entities across master tables.</a:t>
            </a:r>
          </a:p>
          <a:p>
            <a:pPr>
              <a:spcAft>
                <a:spcPts val="7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DataOps Integration: </a:t>
            </a:r>
            <a:r>
              <a:rPr b="0" sz="1300">
                <a:solidFill>
                  <a:srgbClr val="334155"/>
                </a:solidFill>
                <a:latin typeface="Arial"/>
              </a:rPr>
              <a:t>Airflow validation gates verifying data parity before publish.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695" cy="4572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My Operating Principles: Velocity &amp; High-Agency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Core professional execution standards defining day-to-day engineering delivery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Dedeepya Majety  |  Azure Data Engineer  |  EY Global Delivery Services  |  Req 4477576256  |  Available in 30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7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087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B45309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55448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Mathematical Parity Before Cutover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0574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34155"/>
                </a:solidFill>
              </a:defRPr>
            </a:pPr>
            <a:r>
              <a:t>Never migrate an ETL pipeline based on spot checks. Enforce automated row-count reconciliation, primary key uniqueness tests, and column checksums to guarantee zero data loss.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0876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B45309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55448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Proactive Schema Drift Defense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574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34155"/>
                </a:solidFill>
              </a:defRPr>
            </a:pPr>
            <a:r>
              <a:t>Source schemas change without warning. Build resilient pipelines with Databricks Auto Loader _rescued_data to ensure streaming jobs never halt unexpectedly while capturing unmapped attributes.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93192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0690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B45309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11480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Root-Cause Spark Performance Tuning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61772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34155"/>
                </a:solidFill>
              </a:defRPr>
            </a:pPr>
            <a:r>
              <a:t>Never mask an algorithmic bottleneck by doubling cluster size. Inspect Spark UI DAG execution stages, diagnose partition skew, and apply salting or broadcasting to fix latency permanently.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93192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06908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B45309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11480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Full-Lifecycle High-Agency Ownership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61772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34155"/>
                </a:solidFill>
              </a:defRPr>
            </a:pPr>
            <a:r>
              <a:t>Take active ownership from raw source drops to executive Power BI scorecards. Author clear runbooks, establish CI/CD quality gates, and communicate transparently across cross-functional teams.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15568"/>
            <a:ext cx="12191695" cy="4572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30-60-90 Day Value Realization Roadmap for EY Global Delivery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Arial"/>
              </a:defRPr>
            </a:pPr>
            <a:r>
              <a:t>Phased delivery plan ensuring immediate day-1 contribution and long-term technical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Dedeepya Majety  |  Azure Data Engineer  |  EY Global Delivery Services  |  Req 4477576256  |  Available in 30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Arial"/>
              </a:defRPr>
            </a:pPr>
            <a:r>
              <a:t>8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371600"/>
            <a:ext cx="338328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41732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PHASE 1: DAYS 1 TO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9164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Immersion &amp; Baseline Stability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28600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Pipeline Audit: </a:t>
            </a:r>
            <a:r>
              <a:rPr b="0" sz="1300">
                <a:solidFill>
                  <a:srgbClr val="334155"/>
                </a:solidFill>
                <a:latin typeface="Arial"/>
              </a:rPr>
              <a:t>Review existing Airflow DAGs, ADLS storage, and Spark logs.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Bottleneck Identification: </a:t>
            </a:r>
            <a:r>
              <a:rPr b="0" sz="1300">
                <a:solidFill>
                  <a:srgbClr val="334155"/>
                </a:solidFill>
                <a:latin typeface="Arial"/>
              </a:rPr>
              <a:t>Map compute cost hotspots, query bottlenecks, and skew.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Incident Ownership: </a:t>
            </a:r>
            <a:r>
              <a:rPr b="0" sz="1300">
                <a:solidFill>
                  <a:srgbClr val="334155"/>
                </a:solidFill>
                <a:latin typeface="Arial"/>
              </a:rPr>
              <a:t>Take ownership of ETL batch runs and SLA alert triage.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Day-1 Quick Win: </a:t>
            </a:r>
            <a:r>
              <a:rPr b="0" sz="1300">
                <a:solidFill>
                  <a:srgbClr val="334155"/>
                </a:solidFill>
                <a:latin typeface="Arial"/>
              </a:rPr>
              <a:t>Deliver priority pipeline bug fixes with 100% test coverage.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3716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371600"/>
            <a:ext cx="338328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41732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PHASE 2: DAYS 31 TO 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169164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Lakehouse Modernization &amp; Tuning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8600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Delta Migration: </a:t>
            </a:r>
            <a:r>
              <a:rPr b="0" sz="1300">
                <a:solidFill>
                  <a:srgbClr val="334155"/>
                </a:solidFill>
                <a:latin typeface="Arial"/>
              </a:rPr>
              <a:t>Modernize priority batch workflows to Databricks Auto Loader.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PySpark Tuning: </a:t>
            </a:r>
            <a:r>
              <a:rPr b="0" sz="1300">
                <a:solidFill>
                  <a:srgbClr val="334155"/>
                </a:solidFill>
                <a:latin typeface="Arial"/>
              </a:rPr>
              <a:t>Implement salting, broadcast joins, and partition pruning.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Compaction Routine: </a:t>
            </a:r>
            <a:r>
              <a:rPr b="0" sz="1300">
                <a:solidFill>
                  <a:srgbClr val="334155"/>
                </a:solidFill>
                <a:latin typeface="Arial"/>
              </a:rPr>
              <a:t>Schedule automated OPTIMIZE, Z-ORDER, and VACUUM jobs.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Data Quality Gates: </a:t>
            </a:r>
            <a:r>
              <a:rPr b="0" sz="1300">
                <a:solidFill>
                  <a:srgbClr val="334155"/>
                </a:solidFill>
                <a:latin typeface="Arial"/>
              </a:rPr>
              <a:t>Establish automated reconciliation asserts in CI/CD.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37160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1371600"/>
            <a:ext cx="3383280" cy="7772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41732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PHASE 3: DAYS 61 TO 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1691640"/>
            <a:ext cx="3017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Governance &amp; Enterprise Scale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28600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Unity Catalog Scale: </a:t>
            </a:r>
            <a:r>
              <a:rPr b="0" sz="1300">
                <a:solidFill>
                  <a:srgbClr val="334155"/>
                </a:solidFill>
                <a:latin typeface="Arial"/>
              </a:rPr>
              <a:t>Expand 3-level namespace RBAC and dynamic column masking.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Curated Data Marts: </a:t>
            </a:r>
            <a:r>
              <a:rPr b="0" sz="1300">
                <a:solidFill>
                  <a:srgbClr val="334155"/>
                </a:solidFill>
                <a:latin typeface="Arial"/>
              </a:rPr>
              <a:t>Design optimized star-schema tables for high-concurrency BI.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BI Acceleration: </a:t>
            </a:r>
            <a:r>
              <a:rPr b="0" sz="1300">
                <a:solidFill>
                  <a:srgbClr val="334155"/>
                </a:solidFill>
                <a:latin typeface="Arial"/>
              </a:rPr>
              <a:t>Partner with analysts to tune Direct Lake and DAX measures.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B45309"/>
                </a:solidFill>
                <a:latin typeface="Arial"/>
              </a:rPr>
              <a:t>•  </a:t>
            </a:r>
            <a:r>
              <a:rPr b="1" sz="1300">
                <a:solidFill>
                  <a:srgbClr val="0F172A"/>
                </a:solidFill>
                <a:latin typeface="Arial"/>
              </a:rPr>
              <a:t>Engineering Velocity: </a:t>
            </a:r>
            <a:r>
              <a:rPr b="0" sz="1300">
                <a:solidFill>
                  <a:srgbClr val="334155"/>
                </a:solidFill>
                <a:latin typeface="Arial"/>
              </a:rPr>
              <a:t>Author comprehensive runbooks and mentor junior engineers.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